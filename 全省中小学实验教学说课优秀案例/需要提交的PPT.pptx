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 userDrawn="true">
          <p15:clr>
            <a:srgbClr val="A4A3A4"/>
          </p15:clr>
        </p15:guide>
        <p15:guide id="2" pos="3840" userDrawn="true">
          <p15:clr>
            <a:srgbClr val="A4A3A4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8" Type="http://schemas.openxmlformats.org/officeDocument/2006/relationships/slide" Target="slides/slide8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9A3BDB15-99E8-4A15-983D-631A23F51713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5FA1E246-D11B-4A47-A5CA-1A6BCB718EFD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11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节标题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true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6" name="文本占位符 2"/>
          <p:cNvSpPr>
            <a:spLocks noGrp="true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7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28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9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两栏内容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2" name="内容占位符 2"/>
          <p:cNvSpPr>
            <a:spLocks noGrp="true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3" name="内容占位符 3"/>
          <p:cNvSpPr>
            <a:spLocks noGrp="true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4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35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6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比较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9" name="文本占位符 2"/>
          <p:cNvSpPr>
            <a:spLocks noGrp="true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0" name="内容占位符 3"/>
          <p:cNvSpPr>
            <a:spLocks noGrp="true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1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42" name="内容占位符 5"/>
          <p:cNvSpPr>
            <a:spLocks noGrp="true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3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4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5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仅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8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49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0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空白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内容与标题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>
            <a:spLocks noGrp="true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7" name="内容占位符 2"/>
          <p:cNvSpPr>
            <a:spLocks noGrp="true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58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9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60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1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图片与标题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 1"/>
          <p:cNvSpPr>
            <a:spLocks noGrp="true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4" name="图片占位符 2"/>
          <p:cNvSpPr>
            <a:spLocks noGrp="true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zh-CN" altLang="en-US"/>
          </a:p>
        </p:txBody>
      </p:sp>
      <p:sp>
        <p:nvSpPr>
          <p:cNvPr id="65" name="文本占位符 3"/>
          <p:cNvSpPr>
            <a:spLocks noGrp="true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6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67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8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标题和竖排文字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1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72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73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74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17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2000"/>
</p:sldLayout>
</file>

<file path=ppt/slideLayouts/slideLayout12.xml><?xml version="1.0" encoding="utf-8"?>
<p:sldLayout xmlns:p="http://schemas.openxmlformats.org/presentationml/2006/main" xmlns:a="http://schemas.openxmlformats.org/drawingml/2006/main" type="tx">
  <p:cSld name="标题与项目符号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灯片标题"/>
          <p:cNvSpPr txBox="true">
            <a:spLocks noGrp="true"/>
          </p:cNvSpPr>
          <p:nvPr>
            <p:ph type="title" hasCustomPrompt="tru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幻灯片标题</a:t>
            </a:r>
            <a:endParaRPr/>
          </a:p>
        </p:txBody>
      </p:sp>
      <p:sp>
        <p:nvSpPr>
          <p:cNvPr id="21" name="幻灯片副标题"/>
          <p:cNvSpPr txBox="true">
            <a:spLocks noGrp="true"/>
          </p:cNvSpPr>
          <p:nvPr>
            <p:ph type="body" sz="quarter" idx="21" hasCustomPrompt="true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ct val="1"/>
              </a:spcBef>
              <a:buSzTx/>
              <a:buNone/>
              <a:defRPr sz="2420" b="true"/>
            </a:lvl1pPr>
          </a:lstStyle>
          <a:p>
            <a:pPr/>
            <a:r>
              <a:rPr/>
              <a:t>幻灯片副标题</a:t>
            </a:r>
            <a:endParaRPr/>
          </a:p>
        </p:txBody>
      </p:sp>
      <p:sp>
        <p:nvSpPr>
          <p:cNvPr id="22" name="正文级别 1…"/>
          <p:cNvSpPr txBox="true">
            <a:spLocks noGrp="true"/>
          </p:cNvSpPr>
          <p:nvPr>
            <p:ph type="body" idx="1" hasCustomPrompt="tru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/>
              <a:t>幻灯片项目符号文本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" name="幻灯片编号"/>
          <p:cNvSpPr txBox="true">
            <a:spLocks noGrp="true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slow" advTm="22000"/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3.xml" /><Relationship Id="rId12" Type="http://schemas.openxmlformats.org/officeDocument/2006/relationships/theme" Target="../theme/theme1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30820CF-B880-4189-942D-D702A7CBA730}" type="datetimeFigureOut">
              <a:rPr lang="zh-CN" altLang="en-US" smtClean="false"/>
              <a:t>2025/9/24</a:t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0C913308-F349-4B6D-A68A-DD1791B4A57B}" type="slidenum">
              <a:rPr lang="zh-CN" altLang="en-US" smtClean="false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 advTm="22000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3" Type="http://schemas.openxmlformats.org/officeDocument/2006/relationships/image" Target="media/image5.png" /><Relationship Id="rId2" Type="http://schemas.openxmlformats.org/officeDocument/2006/relationships/image" Target="media/image4.png" /><Relationship Id="rId4" Type="http://schemas.openxmlformats.org/officeDocument/2006/relationships/image" Target="media/image6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11.png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5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2" Type="http://schemas.openxmlformats.org/officeDocument/2006/relationships/image" Target="media/image4.png" /><Relationship Id="rId4" Type="http://schemas.openxmlformats.org/officeDocument/2006/relationships/image" Target="media/image6.png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3" Type="http://schemas.openxmlformats.org/officeDocument/2006/relationships/image" Target="media/image5.png" /><Relationship Id="rId4" Type="http://schemas.openxmlformats.org/officeDocument/2006/relationships/image" Target="media/image6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2" Type="http://schemas.openxmlformats.org/officeDocument/2006/relationships/image" Target="media/image4.png" /><Relationship Id="rId4" Type="http://schemas.openxmlformats.org/officeDocument/2006/relationships/image" Target="media/image6.png" /><Relationship Id="rId3" Type="http://schemas.openxmlformats.org/officeDocument/2006/relationships/image" Target="media/image5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2" Type="http://schemas.openxmlformats.org/officeDocument/2006/relationships/image" Target="media/image4.png" /><Relationship Id="rId3" Type="http://schemas.openxmlformats.org/officeDocument/2006/relationships/image" Target="media/image5.png" /><Relationship Id="rId4" Type="http://schemas.openxmlformats.org/officeDocument/2006/relationships/image" Target="media/image6.png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7.png" /><Relationship Id="rId1" Type="http://schemas.openxmlformats.org/officeDocument/2006/relationships/image" Target="media/image2.png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7.png" /><Relationship Id="rId3" Type="http://schemas.openxmlformats.org/officeDocument/2006/relationships/image" Target="media/image8.png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7.pn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3" Type="http://schemas.openxmlformats.org/officeDocument/2006/relationships/image" Target="media/image5.png" /><Relationship Id="rId1" Type="http://schemas.openxmlformats.org/officeDocument/2006/relationships/image" Target="media/image1.png" /><Relationship Id="rId2" Type="http://schemas.openxmlformats.org/officeDocument/2006/relationships/image" Target="media/image4.png" /><Relationship Id="rId4" Type="http://schemas.openxmlformats.org/officeDocument/2006/relationships/image" Target="media/image6.png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7.xml" /><Relationship Id="rId2" Type="http://schemas.openxmlformats.org/officeDocument/2006/relationships/image" Target="media/image7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Relationship Id="rId2" Type="http://schemas.openxmlformats.org/officeDocument/2006/relationships/image" Target="media/image7.png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3" Type="http://schemas.openxmlformats.org/officeDocument/2006/relationships/image" Target="media/image9.png" /><Relationship Id="rId4" Type="http://schemas.openxmlformats.org/officeDocument/2006/relationships/image" Target="media/image10.png" /><Relationship Id="rId5" Type="http://schemas.openxmlformats.org/officeDocument/2006/relationships/image" Target="media/image3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像" descr="图像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演示文稿标题文字微软雅黑粗体48"/>
          <p:cNvSpPr txBox="true"/>
          <p:nvPr/>
        </p:nvSpPr>
        <p:spPr>
          <a:xfrm rot="0" flipH="false" flipV="false">
            <a:off x="877342" y="2464211"/>
            <a:ext cx="11099800" cy="66040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marL="0" lvl="0" algn="ctr" defTabSz="914400">
              <a:lnSpc>
                <a:spcPct val="100000"/>
              </a:lnSpc>
              <a:defRPr sz="6000">
                <a:solidFill>
                  <a:srgbClr val="FFFFFF">
                    <a:alpha val="100000"/>
                  </a:srgbClr>
                </a:solidFill>
                <a:latin typeface="MiSans Heavy"/>
                <a:ea typeface="MiSans Heavy"/>
                <a:cs typeface="MiSans Heavy"/>
                <a:sym typeface="MiSans Heavy"/>
              </a:defRPr>
            </a:pPr>
            <a:r>
              <a:rPr lang="zh-CN" sz="4000" b="true" i="false" u="none" strike="noStrike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  <a:sym typeface="思源宋体 Heavy"/>
              </a:rPr>
              <a:t>坐标法探究三视图绘制和数字验证投影规律</a:t>
            </a:r>
            <a:endParaRPr/>
          </a:p>
        </p:txBody>
      </p:sp>
      <p:sp>
        <p:nvSpPr>
          <p:cNvPr id="5" name="学校：XXXXXXXXX"/>
          <p:cNvSpPr txBox="true"/>
          <p:nvPr/>
        </p:nvSpPr>
        <p:spPr>
          <a:xfrm>
            <a:off x="4223792" y="3559078"/>
            <a:ext cx="4406900" cy="419100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/>
            <a:r>
              <a:rPr lang="zh-CN" sz="2400">
                <a:latin typeface="微软雅黑"/>
                <a:ea typeface="微软雅黑"/>
                <a:cs typeface="微软雅黑"/>
                <a:sym typeface="思源宋体 Heavy"/>
              </a:rPr>
              <a:t>      王华军（江苏省东台中学）</a:t>
            </a:r>
            <a:endParaRPr/>
          </a:p>
        </p:txBody>
      </p:sp>
      <p:sp>
        <p:nvSpPr>
          <p:cNvPr id="6" name="学校：XXXXXXXXX"/>
          <p:cNvSpPr txBox="true"/>
          <p:nvPr/>
        </p:nvSpPr>
        <p:spPr>
          <a:xfrm>
            <a:off x="6400919" y="409762"/>
            <a:ext cx="5400599" cy="419735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r"/>
            <a:r>
              <a:rPr lang="en-US" altLang="zh-CN" sz="2400" dirty="fals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2025</a:t>
            </a:r>
            <a:r>
              <a:rPr lang="zh-CN" altLang="en-US" sz="2400" dirty="fals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宋体 Heavy" panose="02020900000000000000" charset="-122"/>
              </a:rPr>
              <a:t>年中小学实验教学能力展示活动</a:t>
            </a:r>
            <a:endParaRPr/>
          </a:p>
        </p:txBody>
      </p:sp>
      <p:sp>
        <p:nvSpPr>
          <p:cNvPr id="7" name="演示文稿标题文字微软雅黑粗体48"/>
          <p:cNvSpPr txBox="true"/>
          <p:nvPr/>
        </p:nvSpPr>
        <p:spPr>
          <a:xfrm rot="0" flipH="false" flipV="false">
            <a:off x="335360" y="1068091"/>
            <a:ext cx="3735049" cy="787399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>
              <a:defRPr sz="6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 algn="ctr"/>
            <a:r>
              <a:rPr lang="zh-CN" sz="4800" b="true">
                <a:latin typeface="微软雅黑"/>
                <a:ea typeface="微软雅黑"/>
                <a:cs typeface="微软雅黑"/>
                <a:sym typeface="思源宋体 Heavy"/>
              </a:rPr>
              <a:t>高中通用技术</a:t>
            </a:r>
            <a:endParaRPr/>
          </a:p>
        </p:txBody>
      </p:sp>
      <p:pic>
        <p:nvPicPr>
          <p:cNvPr id="8" name="图片 7" descr="Frame 927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" y="4759325"/>
            <a:ext cx="5422265" cy="108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Requires="p14">
      <p:transition p14:dur="0"/>
    </mc:Choice>
    <mc:Fallback>
      <p:transition spd="slow">
        <p:fade/>
      </p:transition>
    </mc:Fallback>
  </mc:AlternateContent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文本框 3"/>
          <p:cNvSpPr txBox="true"/>
          <p:nvPr/>
        </p:nvSpPr>
        <p:spPr>
          <a:xfrm>
            <a:off x="1559748" y="1152884"/>
            <a:ext cx="5687537" cy="3969385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实验基本信息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实验设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计思路与创新点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03.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实验原理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04.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实验目标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05.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教学过程</a:t>
            </a:r>
            <a:endParaRPr/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06. </a:t>
            </a:r>
            <a:r>
              <a:rPr lang="zh-CN" altLang="en-US" sz="2800" b="true" dirty="false">
                <a:solidFill>
                  <a:srgbClr val="1242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实验效果评价</a:t>
            </a:r>
            <a:endParaRPr/>
          </a:p>
        </p:txBody>
      </p:sp>
      <p:sp>
        <p:nvSpPr>
          <p:cNvPr id="82" name="圆角矩形 2"/>
          <p:cNvSpPr/>
          <p:nvPr/>
        </p:nvSpPr>
        <p:spPr>
          <a:xfrm>
            <a:off x="1055370" y="1051560"/>
            <a:ext cx="8568690" cy="4277995"/>
          </a:xfrm>
          <a:prstGeom prst="roundRect">
            <a:avLst>
              <a:gd name="adj" fmla="val 7175"/>
            </a:avLst>
          </a:prstGeom>
          <a:noFill/>
          <a:ln w="12700">
            <a:solidFill>
              <a:srgbClr val="08AAF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en-US" altLang="zh-CN">
                <a:solidFill>
                  <a:srgbClr val="1242AB"/>
                </a:solidFill>
              </a:rPr>
              <a:t>                  </a:t>
            </a:r>
            <a:endParaRPr/>
          </a:p>
        </p:txBody>
      </p:sp>
      <p:pic>
        <p:nvPicPr>
          <p:cNvPr id="83" name="图像" descr="图像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4" name="图片 4" descr="Frame 9278 (1)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490" y="424740"/>
            <a:ext cx="1612860" cy="324000"/>
          </a:xfrm>
          <a:prstGeom prst="rect">
            <a:avLst/>
          </a:prstGeom>
        </p:spPr>
      </p:pic>
    </p:spTree>
  </p:cSld>
  <p:clrMapOvr>
    <a:masterClrMapping/>
  </p:clrMapOvr>
  <p:transition spd="slow" advTm="22000"/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1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实验基本信息</a:t>
            </a:r>
            <a:endParaRPr/>
          </a:p>
        </p:txBody>
      </p:sp>
      <p:sp>
        <p:nvSpPr>
          <p:cNvPr id="112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01</a:t>
            </a:r>
            <a:endParaRPr/>
          </a:p>
        </p:txBody>
      </p:sp>
      <p:pic>
        <p:nvPicPr>
          <p:cNvPr id="113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14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15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8" name=""/>
          <p:cNvSpPr txBox="true"/>
          <p:nvPr/>
        </p:nvSpPr>
        <p:spPr>
          <a:xfrm rot="0" flipH="false" flipV="false">
            <a:off x="1659455" y="1311359"/>
            <a:ext cx="10013950" cy="36258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使用教材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江苏凤凰教育出版社《通用技术必修1-技术与设计1》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高中一年级适用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教学内容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第五章"设计图样的绘制"第二节"绘制三视图"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  <p:grpSp>
        <p:nvGrpSpPr>
          <p:cNvPr id="119" name="组合 9"/>
          <p:cNvGrpSpPr/>
          <p:nvPr/>
        </p:nvGrpSpPr>
        <p:grpSpPr>
          <a:xfrm>
            <a:off x="537845" y="394970"/>
            <a:ext cx="11052175" cy="467360"/>
            <a:chOff x="847" y="622"/>
            <a:chExt cx="17405" cy="736"/>
          </a:xfrm>
        </p:grpSpPr>
        <p:sp>
          <p:nvSpPr>
            <p:cNvPr id="120" name="幻灯片副标题"/>
            <p:cNvSpPr txBox="true"/>
            <p:nvPr/>
          </p:nvSpPr>
          <p:spPr>
            <a:xfrm rot="0">
              <a:off x="84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实验基本信息：</a:t>
              </a:r>
              <a:endParaRPr/>
            </a:p>
          </p:txBody>
        </p:sp>
        <p:sp>
          <p:nvSpPr>
            <p:cNvPr id="121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22" name="图片 7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Tm="22000"/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5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实验设计思路与创新点</a:t>
            </a:r>
            <a:endParaRPr/>
          </a:p>
        </p:txBody>
      </p:sp>
      <p:sp>
        <p:nvSpPr>
          <p:cNvPr id="126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0B0F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  <a:endParaRPr/>
          </a:p>
        </p:txBody>
      </p:sp>
      <p:pic>
        <p:nvPicPr>
          <p:cNvPr id="127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28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29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32" name="组合 9"/>
          <p:cNvGrpSpPr/>
          <p:nvPr/>
        </p:nvGrpSpPr>
        <p:grpSpPr>
          <a:xfrm>
            <a:off x="537845" y="394970"/>
            <a:ext cx="11052175" cy="467360"/>
            <a:chOff x="847" y="622"/>
            <a:chExt cx="17405" cy="736"/>
          </a:xfrm>
        </p:grpSpPr>
        <p:sp>
          <p:nvSpPr>
            <p:cNvPr id="133" name="幻灯片副标题"/>
            <p:cNvSpPr txBox="true"/>
            <p:nvPr/>
          </p:nvSpPr>
          <p:spPr>
            <a:xfrm rot="0">
              <a:off x="84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实验设计思路：</a:t>
              </a:r>
              <a:endParaRPr/>
            </a:p>
          </p:txBody>
        </p:sp>
        <p:sp>
          <p:nvSpPr>
            <p:cNvPr id="13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35" name="图片 7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36" name=""/>
          <p:cNvSpPr txBox="true"/>
          <p:nvPr/>
        </p:nvSpPr>
        <p:spPr>
          <a:xfrm rot="0" flipH="false" flipV="false">
            <a:off x="1242110" y="1300079"/>
            <a:ext cx="10782300" cy="34417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、通过实体模型在投影空间所有点在三个平面投影面中点的坐标，绘制主视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图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俯视图和左视图。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、通过对实体上某一点在三个投影面的坐标，来科学认识长对正、宽相等、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高平齐的真正含义。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800" b="true" i="false" u="none" strike="noStrike">
              <a:solidFill>
                <a:srgbClr val="1242AB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</p:txBody>
      </p:sp>
    </p:spTree>
  </p:cSld>
  <p:clrMapOvr>
    <a:masterClrMapping/>
  </p:clrMapOvr>
  <p:transition spd="slow" advTm="22000"/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39" name="组合 9"/>
          <p:cNvGrpSpPr/>
          <p:nvPr/>
        </p:nvGrpSpPr>
        <p:grpSpPr>
          <a:xfrm>
            <a:off x="537845" y="394970"/>
            <a:ext cx="11052175" cy="467360"/>
            <a:chOff x="847" y="622"/>
            <a:chExt cx="17405" cy="736"/>
          </a:xfrm>
        </p:grpSpPr>
        <p:sp>
          <p:nvSpPr>
            <p:cNvPr id="140" name="幻灯片副标题"/>
            <p:cNvSpPr txBox="true"/>
            <p:nvPr/>
          </p:nvSpPr>
          <p:spPr>
            <a:xfrm rot="0">
              <a:off x="84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实验创新点：</a:t>
              </a:r>
              <a:endParaRPr/>
            </a:p>
          </p:txBody>
        </p:sp>
        <p:sp>
          <p:nvSpPr>
            <p:cNvPr id="141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42" name="图片 7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43" name=""/>
          <p:cNvSpPr txBox="true"/>
          <p:nvPr/>
        </p:nvSpPr>
        <p:spPr>
          <a:xfrm rot="0" flipH="false" flipV="false">
            <a:off x="690563" y="1671137"/>
            <a:ext cx="11112500" cy="41148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四大创新突破：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、坐标法量化分析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：将抽象空间概念转化为具体数学坐标，实现空间-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平面的数字化转换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、"一点两轴"技巧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：独创原点定位+双坐标轴识别法，有效解决方向判断困难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、3D打印实体模型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：增强直观感受，提升动手操作能力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数据对比验证。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、用数学方法验证投影规律，培养科学探究精神。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6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实验原理</a:t>
            </a:r>
            <a:r>
              <a:rPr lang="en-US" altLang="zh-CN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实验设计思路</a:t>
            </a:r>
            <a:endParaRPr/>
          </a:p>
        </p:txBody>
      </p:sp>
      <p:sp>
        <p:nvSpPr>
          <p:cNvPr id="147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  <a:endParaRPr/>
          </a:p>
        </p:txBody>
      </p:sp>
      <p:pic>
        <p:nvPicPr>
          <p:cNvPr id="148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49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50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53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154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实验原理</a:t>
              </a:r>
              <a:endParaRPr/>
            </a:p>
          </p:txBody>
        </p:sp>
        <p:sp>
          <p:nvSpPr>
            <p:cNvPr id="155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156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157" name=""/>
          <p:cNvSpPr txBox="true"/>
          <p:nvPr/>
        </p:nvSpPr>
        <p:spPr>
          <a:xfrm rot="0" flipH="false" flipV="false">
            <a:off x="1665956" y="1156870"/>
            <a:ext cx="9855200" cy="55753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、投影规律的数学表达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主视图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：反映长度(x)和高度(z)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俯视图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：反映长度(x)和宽度(y)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左视图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：反映宽度(y)和高度(z)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、验证方法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通过对比同一空间点在三个视图中的坐标值，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验证：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
    ①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长对正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：主视图与俯视图长度值相等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
    ②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宽相等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：俯视图与左视图宽度值相等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
    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高平齐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：主视图与左视图高度值相等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实验教学目标</a:t>
            </a:r>
            <a:endParaRPr/>
          </a:p>
        </p:txBody>
      </p:sp>
      <p:sp>
        <p:nvSpPr>
          <p:cNvPr id="12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04</a:t>
            </a:r>
            <a:endParaRPr/>
          </a:p>
        </p:txBody>
      </p:sp>
      <p:pic>
        <p:nvPicPr>
          <p:cNvPr id="13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14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15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8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19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实验教学目标</a:t>
              </a:r>
              <a:endParaRPr/>
            </a:p>
          </p:txBody>
        </p:sp>
        <p:sp>
          <p:nvSpPr>
            <p:cNvPr id="20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21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22" name=""/>
          <p:cNvSpPr txBox="true"/>
          <p:nvPr/>
        </p:nvSpPr>
        <p:spPr>
          <a:xfrm rot="0" flipH="false" flipV="false">
            <a:off x="2976245" y="1852790"/>
            <a:ext cx="8356600" cy="26543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1·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、理解三视图概念和投影原理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掌握坐标法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绘制三视图的方法和技巧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、准确判断空间点在各视图中的坐标位置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验证并掌握"长对正、宽相等、高平齐"投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影规律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实验教学过程</a:t>
            </a:r>
            <a:endParaRPr/>
          </a:p>
        </p:txBody>
      </p:sp>
      <p:sp>
        <p:nvSpPr>
          <p:cNvPr id="26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05</a:t>
            </a:r>
            <a:endParaRPr/>
          </a:p>
        </p:txBody>
      </p:sp>
      <p:pic>
        <p:nvPicPr>
          <p:cNvPr id="27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28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29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2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33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34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35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36" name=""/>
          <p:cNvSpPr txBox="true"/>
          <p:nvPr/>
        </p:nvSpPr>
        <p:spPr>
          <a:xfrm rot="0" flipH="false" flipV="false">
            <a:off x="2867526" y="1609224"/>
            <a:ext cx="8108950" cy="40259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一、实验导入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sz="1800" b="true">
              <a:solidFill>
                <a:srgbClr val="000000">
                  <a:alpha val="90000"/>
                </a:srgbClr>
              </a:solidFill>
              <a:highlight>
                <a:srgbClr val="FFFFFF">
                  <a:alpha val="100000"/>
                </a:srgbClr>
              </a:highlight>
              <a:latin typeface="inherit"/>
              <a:ea typeface="inherit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、坐标法基本原理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：空间直角坐标系的平面映射方法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、一点两轴"技巧详解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一点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：确定视图中心原点位置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两轴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：识别各视图的两个坐标轴方向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方向判断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：根据坐标偏移值精确定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9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40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41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42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43" name=""/>
          <p:cNvSpPr txBox="true"/>
          <p:nvPr/>
        </p:nvSpPr>
        <p:spPr>
          <a:xfrm rot="0" flipH="false" flipV="false">
            <a:off x="2867526" y="1609224"/>
            <a:ext cx="8108950" cy="44831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二、实践操作——主视图绘制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操作步骤：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、定位原点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：确定中心原点位置（右侧）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、识别坐标轴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：左右为长度(x)轴，上下为高度(z)轴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、提取关键点坐标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(0,0)、(0,2)、(0,6)、(2,6)、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(4,4)、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</a:t>
            </a:r>
            <a:r>
              <a:rPr lang="zh-CN" sz="2400" b="true" i="false" u="none" strike="noStrike">
                <a:solidFill>
                  <a:schemeClr val="bg1">
                    <a:alpha val="100000"/>
                  </a:schemeClr>
                </a:solidFill>
                <a:latin typeface="微软雅黑 Light"/>
                <a:ea typeface="微软雅黑 Light"/>
                <a:cs typeface="微软雅黑 Light"/>
              </a:rPr>
              <a:t>(4,6)、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              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(6,0)、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(6,0)、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(6,6)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、连线成形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：按顺序连接各点，形成完整主视图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46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47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48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49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50" name=""/>
          <p:cNvSpPr txBox="true"/>
          <p:nvPr/>
        </p:nvSpPr>
        <p:spPr>
          <a:xfrm rot="0" flipH="false" flipV="false">
            <a:off x="2647950" y="1376399"/>
            <a:ext cx="8108950" cy="44831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实践操作——俯视图绘制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操作要点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定位原点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：确定中心原点位置（右侧）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识别坐标轴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：左右为长度(x)轴，前后为宽度(y)轴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特殊处理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：特别关注斜线部分的四个点坐标提取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连线成形</a:t>
            </a: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：完成俯视图绘制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</p:txBody>
      </p:sp>
    </p:spTree>
  </p:cSld>
  <p:clrMapOvr>
    <a:masterClrMapping/>
  </p:clrMapOvr>
  <p:transition spd="slow" advTm="22000"/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53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54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55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56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57" name=""/>
          <p:cNvSpPr txBox="true"/>
          <p:nvPr/>
        </p:nvSpPr>
        <p:spPr>
          <a:xfrm rot="0" flipH="false" flipV="false">
            <a:off x="2400300" y="1039849"/>
            <a:ext cx="9023350" cy="55753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实践操作——左视图绘制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操作要点：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1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、定位原点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：确定中心原点位置（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左侧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，注意与其他视图区别）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2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、识别坐标轴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：前后为宽度(y)轴，上下为高度(z)轴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、分层绘制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  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先绘制简单L型区域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             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再提取缺口部分的四个点坐标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en-US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4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、虚线处理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：用虚线表示被遮挡的线条</a:t>
            </a:r>
            <a:endParaRPr/>
          </a:p>
        </p:txBody>
      </p:sp>
    </p:spTree>
  </p:cSld>
  <p:clrMapOvr>
    <a:masterClrMapping/>
  </p:clrMapOvr>
  <p:transition spd="slow" advTm="22000"/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60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61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62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63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64" name=""/>
          <p:cNvSpPr txBox="true"/>
          <p:nvPr/>
        </p:nvSpPr>
        <p:spPr>
          <a:xfrm rot="0" flipH="false" flipV="false">
            <a:off x="2400300" y="1039849"/>
            <a:ext cx="9023350" cy="191770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三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：规律验证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数据对比验证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以实体"红点"为例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  <p:pic>
        <p:nvPicPr>
          <p:cNvPr id="65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3862404" y="3142053"/>
            <a:ext cx="5090694" cy="3435683"/>
          </a:xfrm>
          <a:prstGeom prst="rect"/>
        </p:spPr>
      </p:pic>
    </p:spTree>
  </p:cSld>
  <p:clrMapOvr>
    <a:masterClrMapping/>
  </p:clrMapOvr>
  <p:transition spd="slow" advTm="22000"/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68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69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实验过程</a:t>
              </a:r>
              <a:endParaRPr/>
            </a:p>
          </p:txBody>
        </p:sp>
        <p:sp>
          <p:nvSpPr>
            <p:cNvPr id="70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71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72" name=""/>
          <p:cNvSpPr txBox="true"/>
          <p:nvPr/>
        </p:nvSpPr>
        <p:spPr>
          <a:xfrm rot="0" flipH="false" flipV="false">
            <a:off x="2298784" y="1581270"/>
            <a:ext cx="9023350" cy="25590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四：验证结果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sz="1800" b="true">
              <a:solidFill>
                <a:srgbClr val="000000">
                  <a:alpha val="90000"/>
                </a:srgbClr>
              </a:solidFill>
              <a:highlight>
                <a:srgbClr val="FFFFFF">
                  <a:alpha val="100000"/>
                </a:srgbClr>
              </a:highlight>
              <a:latin typeface="inherit"/>
              <a:ea typeface="inherit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✓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长对正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：主视图与俯视图长度值均为2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✓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宽相等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：俯视图与左视图宽度值均为3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✓ 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高平齐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：主视图与左视图高度值均为4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5" name="文本框 2"/>
          <p:cNvSpPr txBox="true"/>
          <p:nvPr/>
        </p:nvSpPr>
        <p:spPr>
          <a:xfrm>
            <a:off x="46990" y="2564765"/>
            <a:ext cx="12145010" cy="1823720"/>
          </a:xfrm>
          <a:prstGeom prst="rect">
            <a:avLst/>
          </a:prstGeom>
          <a:noFill/>
        </p:spPr>
        <p:txBody>
          <a:bodyPr wrap="square" rtlCol="false" anchor="t">
            <a:noAutofit/>
          </a:bodyPr>
          <a:lstStyle/>
          <a:p>
            <a:pPr indent="0" algn="ctr" fontAlgn="auto">
              <a:lnSpc>
                <a:spcPct val="130000"/>
              </a:lnSpc>
              <a:buFont typeface="+mj-lt"/>
              <a:buNone/>
            </a:pPr>
            <a:r>
              <a:rPr lang="zh-CN" altLang="en-US" sz="6600" b="true" spc="500" dirty="false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实验效果评价</a:t>
            </a:r>
            <a:endParaRPr/>
          </a:p>
        </p:txBody>
      </p:sp>
      <p:sp>
        <p:nvSpPr>
          <p:cNvPr id="76" name="文本框 5"/>
          <p:cNvSpPr txBox="true"/>
          <p:nvPr/>
        </p:nvSpPr>
        <p:spPr>
          <a:xfrm>
            <a:off x="3575685" y="1557020"/>
            <a:ext cx="4898390" cy="1198880"/>
          </a:xfrm>
          <a:prstGeom prst="rect">
            <a:avLst/>
          </a:prstGeom>
          <a:noFill/>
        </p:spPr>
        <p:txBody>
          <a:bodyPr wrap="square" rtlCol="false" anchor="t">
            <a:spAutoFit/>
          </a:bodyPr>
          <a:lstStyle/>
          <a:p>
            <a:pPr indent="0" algn="ctr" eaLnBrk="false" fontAlgn="auto" hangingPunct="false"/>
            <a:r>
              <a:rPr lang="en-US" altLang="zh-CN" sz="7200" b="true" dirty="false">
                <a:solidFill>
                  <a:srgbClr val="08AAF2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06</a:t>
            </a:r>
            <a:endParaRPr/>
          </a:p>
        </p:txBody>
      </p:sp>
      <p:pic>
        <p:nvPicPr>
          <p:cNvPr id="77" name="图片 1" descr="1 说课活动延展物料-17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3550285"/>
            <a:ext cx="2784475" cy="3307715"/>
          </a:xfrm>
          <a:prstGeom prst="rect">
            <a:avLst/>
          </a:prstGeom>
        </p:spPr>
      </p:pic>
      <p:pic>
        <p:nvPicPr>
          <p:cNvPr id="78" name="图片 3" descr="1 说课活动延展物料-18"/>
          <p:cNvPicPr>
            <a:picLocks noChangeAspect="true"/>
          </p:cNvPicPr>
          <p:nvPr/>
        </p:nvPicPr>
        <p:blipFill>
          <a:blip r:embed="rId3">
            <a:alphaModFix amt="60000"/>
          </a:blip>
          <a:srcRect l="-1163" t="24645"/>
          <a:stretch>
            <a:fillRect/>
          </a:stretch>
        </p:blipFill>
        <p:spPr>
          <a:xfrm rot="16200000">
            <a:off x="-290195" y="265430"/>
            <a:ext cx="3308350" cy="2777490"/>
          </a:xfrm>
          <a:prstGeom prst="rect">
            <a:avLst/>
          </a:prstGeom>
        </p:spPr>
      </p:pic>
      <p:pic>
        <p:nvPicPr>
          <p:cNvPr id="79" name="图像" descr="图像"/>
          <p:cNvPicPr>
            <a:picLocks noChangeAspect="true"/>
          </p:cNvPicPr>
          <p:nvPr/>
        </p:nvPicPr>
        <p:blipFill>
          <a:blip r:embed="rId4">
            <a:alphaModFix amt="19907"/>
          </a:blip>
          <a:stretch>
            <a:fillRect/>
          </a:stretch>
        </p:blipFill>
        <p:spPr>
          <a:xfrm>
            <a:off x="8543290" y="727075"/>
            <a:ext cx="7526020" cy="613092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slow" advTm="22000"/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87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88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实验效果评价</a:t>
              </a:r>
              <a:endParaRPr/>
            </a:p>
          </p:txBody>
        </p:sp>
        <p:sp>
          <p:nvSpPr>
            <p:cNvPr id="89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90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91" name=""/>
          <p:cNvSpPr txBox="true"/>
          <p:nvPr/>
        </p:nvSpPr>
        <p:spPr>
          <a:xfrm rot="0" flipH="false" flipV="false">
            <a:off x="2113364" y="1286460"/>
            <a:ext cx="8547100" cy="48450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教学成效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认知层面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：90%以上学生能准确理解空间-平面转化关系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技能层面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：学生能熟练运用坐标法绘制标准三视图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素养层面</a:t>
            </a: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：数据分析能力和科学探究精神显著提升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课堂观察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学生参与度极高，课堂氛围活跃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349758" lvl="0" algn="l" defTabSz="914400">
              <a:lnSpc>
                <a:spcPct val="100000"/>
              </a:lnSpc>
              <a:buFont typeface="Arial" charset="0"/>
              <a:buChar char="•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3D模型与坐标法的结合有效降低认知负荷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像" descr="图像"/>
          <p:cNvPicPr>
            <a:picLocks noChangeAspect="true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94" name="组合 9"/>
          <p:cNvGrpSpPr/>
          <p:nvPr/>
        </p:nvGrpSpPr>
        <p:grpSpPr>
          <a:xfrm>
            <a:off x="531495" y="394970"/>
            <a:ext cx="11057890" cy="467360"/>
            <a:chOff x="837" y="622"/>
            <a:chExt cx="17414" cy="736"/>
          </a:xfrm>
        </p:grpSpPr>
        <p:sp>
          <p:nvSpPr>
            <p:cNvPr id="95" name="幻灯片副标题"/>
            <p:cNvSpPr txBox="true"/>
            <p:nvPr/>
          </p:nvSpPr>
          <p:spPr>
            <a:xfrm>
              <a:off x="837" y="622"/>
              <a:ext cx="17300" cy="736"/>
            </a:xfrm>
            <a:prstGeom prst="rect">
              <a:avLst/>
            </a:prstGeom>
          </p:spPr>
          <p:txBody>
            <a:bodyPr vert="horz" lIns="45719" tIns="45719" rIns="45719" bIns="45719" rtlCol="false">
              <a:noAutofit/>
            </a:bodyPr>
            <a:lstStyle>
              <a:lvl1pPr marL="0" indent="0" algn="l" defTabSz="726440" rtl="false" eaLnBrk="true" latinLnBrk="false" hangingPunct="true">
                <a:lnSpc>
                  <a:spcPct val="100000"/>
                </a:lnSpc>
                <a:spcBef>
                  <a:spcPct val="1"/>
                </a:spcBef>
                <a:buSzTx/>
                <a:buFont typeface="Arial" panose="020B0604020202020204" pitchFamily="34" charset="0"/>
                <a:buNone/>
                <a:defRPr sz="2420" b="true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false" eaLnBrk="true" latinLnBrk="false" hangingPunct="true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Tx/>
                <a:buFont typeface="Arial" panose="020B0604020202020204" pitchFamily="34" charset="0"/>
                <a:buNone/>
                <a:defRPr sz="2420" b="true">
                  <a:solidFill>
                    <a:srgbClr val="005493">
                      <a:alpha val="100000"/>
                    </a:srgbClr>
                  </a:solidFill>
                  <a:latin typeface="Calibri"/>
                  <a:ea typeface="宋体"/>
                  <a:cs typeface="+mn-cs"/>
                </a:defRPr>
              </a:pPr>
              <a:r>
                <a:rPr lang="zh-CN" sz="2400">
                  <a:solidFill>
                    <a:srgbClr val="00B0F0">
                      <a:alpha val="100000"/>
                    </a:srgbClr>
                  </a:solidFill>
                  <a:latin typeface="微软雅黑 Light"/>
                  <a:ea typeface="微软雅黑 Light"/>
                  <a:cs typeface="微软雅黑 Light"/>
                </a:rPr>
                <a:t>实验效果评价</a:t>
              </a:r>
              <a:endParaRPr/>
            </a:p>
          </p:txBody>
        </p:sp>
        <p:sp>
          <p:nvSpPr>
            <p:cNvPr id="96" name="线条"/>
            <p:cNvSpPr/>
            <p:nvPr/>
          </p:nvSpPr>
          <p:spPr>
            <a:xfrm>
              <a:off x="949" y="1347"/>
              <a:ext cx="17303" cy="0"/>
            </a:xfrm>
            <a:prstGeom prst="line">
              <a:avLst/>
            </a:prstGeom>
            <a:ln w="25400">
              <a:solidFill>
                <a:srgbClr val="00B0F0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/>
              <a:endParaRPr sz="900">
                <a:sym typeface="微软雅黑" panose="020B0503020204020204" charset="-122"/>
              </a:endParaRPr>
            </a:p>
          </p:txBody>
        </p:sp>
        <p:pic>
          <p:nvPicPr>
            <p:cNvPr id="97" name="图片 2" descr="Frame 9278 (1)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70" y="669"/>
              <a:ext cx="2540" cy="510"/>
            </a:xfrm>
            <a:prstGeom prst="rect">
              <a:avLst/>
            </a:prstGeom>
          </p:spPr>
        </p:pic>
      </p:grpSp>
      <p:sp>
        <p:nvSpPr>
          <p:cNvPr id="98" name=""/>
          <p:cNvSpPr txBox="true"/>
          <p:nvPr/>
        </p:nvSpPr>
        <p:spPr>
          <a:xfrm rot="0" flipH="false" flipV="false">
            <a:off x="1989288" y="1703805"/>
            <a:ext cx="9404350" cy="2660650"/>
          </a:xfrm>
        </p:spPr>
        <p:txBody>
          <a:bodyPr vert="horz">
            <a:spAutoFit/>
          </a:bodyPr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学生典型反馈：</a:t>
            </a:r>
            <a:endParaRPr/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en-US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"以前画三视图总是找不准方向，'一点两轴'技巧让我一下就明白了！"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"3D打印的实物模型太直观了，抽象概念一下子变得具体可见。"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 lang="zh-CN" sz="2400" b="true" i="false" u="none" strike="noStrike">
              <a:solidFill>
                <a:srgbClr val="00B0F0">
                  <a:alpha val="100000"/>
                </a:srgbClr>
              </a:solidFill>
              <a:latin typeface="微软雅黑 Light"/>
              <a:ea typeface="微软雅黑 Light"/>
              <a:cs typeface="微软雅黑 Light"/>
            </a:endParaRPr>
          </a:p>
          <a:p>
            <a:pPr marL="0" lvl="0" algn="l" defTabSz="914400">
              <a:lnSpc>
                <a:spcPct val="10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 lang="zh-CN" sz="2400" b="true" i="false" u="none" strike="noStrike">
                <a:solidFill>
                  <a:srgbClr val="00B0F0">
                    <a:alpha val="100000"/>
                  </a:srgbClr>
                </a:solidFill>
                <a:latin typeface="微软雅黑 Light"/>
                <a:ea typeface="微软雅黑 Light"/>
                <a:cs typeface="微软雅黑 Light"/>
              </a:rPr>
              <a:t>"用数据验证规律的过程很有成就感，感觉像在做科学研究。"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  <p:transition spd="slow" advTm="22000"/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2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1" name="图像" descr="图像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59499"/>
            <a:ext cx="12192001" cy="106746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2" name="谢谢观看！"/>
          <p:cNvSpPr txBox="true"/>
          <p:nvPr/>
        </p:nvSpPr>
        <p:spPr>
          <a:xfrm>
            <a:off x="4758055" y="2564481"/>
            <a:ext cx="2675890" cy="140462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>
              <a:defRPr sz="12000">
                <a:solidFill>
                  <a:srgbClr val="FFFFFF"/>
                </a:solidFill>
                <a:latin typeface="MiSans Heavy" panose="00000A00000000000000" charset="-122"/>
                <a:ea typeface="MiSans Heavy" panose="00000A00000000000000" charset="-122"/>
                <a:cs typeface="MiSans Heavy" panose="00000A00000000000000" charset="-122"/>
                <a:sym typeface="MiSans Heavy" panose="00000A00000000000000" charset="-122"/>
              </a:defRPr>
            </a:lvl1pPr>
          </a:lstStyle>
          <a:p>
            <a:pPr/>
            <a:r>
              <a:rPr sz="8800" b="true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谢谢</a:t>
            </a:r>
            <a:r>
              <a:rPr lang="en-US" sz="8800" b="true">
                <a:latin typeface="微软雅黑" panose="020B0503020204020204" charset="-122"/>
                <a:ea typeface="微软雅黑" panose="020B0503020204020204" charset="-122"/>
                <a:cs typeface="思源宋体 Heavy" panose="02020900000000000000" charset="-122"/>
                <a:sym typeface="思源宋体 Heavy" panose="02020900000000000000" charset="-122"/>
              </a:rPr>
              <a:t>!</a:t>
            </a:r>
            <a:endParaRPr/>
          </a:p>
        </p:txBody>
      </p:sp>
      <p:grpSp>
        <p:nvGrpSpPr>
          <p:cNvPr id="103" name="组合 3"/>
          <p:cNvGrpSpPr/>
          <p:nvPr/>
        </p:nvGrpSpPr>
        <p:grpSpPr>
          <a:xfrm>
            <a:off x="4306888" y="4580253"/>
            <a:ext cx="4220841" cy="400050"/>
            <a:chOff x="1404" y="7524"/>
            <a:chExt cx="6647" cy="630"/>
          </a:xfrm>
        </p:grpSpPr>
        <p:pic>
          <p:nvPicPr>
            <p:cNvPr id="104" name="图像" descr="图像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4" y="7624"/>
              <a:ext cx="427" cy="428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pic>
          <p:nvPicPr>
            <p:cNvPr id="105" name="图像" descr="图像"/>
            <p:cNvPicPr>
              <a:picLocks noChangeAspect="true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5" y="7584"/>
              <a:ext cx="380" cy="507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06" name="2023.10"/>
            <p:cNvSpPr txBox="true"/>
            <p:nvPr/>
          </p:nvSpPr>
          <p:spPr>
            <a:xfrm>
              <a:off x="1916" y="7529"/>
              <a:ext cx="1780" cy="62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pPr/>
              <a:r>
                <a:rPr sz="2250">
                  <a:latin typeface="微软雅黑"/>
                  <a:ea typeface="微软雅黑"/>
                  <a:cs typeface="思源宋体 Heavy"/>
                  <a:sym typeface="思源宋体 Heavy"/>
                </a:rPr>
                <a:t>2025</a:t>
              </a:r>
              <a:r>
                <a:rPr sz="2250">
                  <a:latin typeface="微软雅黑"/>
                  <a:ea typeface="微软雅黑"/>
                  <a:cs typeface="思源宋体 Heavy"/>
                  <a:sym typeface="思源宋体 Heavy"/>
                </a:rPr>
                <a:t>.11</a:t>
              </a:r>
              <a:endParaRPr/>
            </a:p>
          </p:txBody>
        </p:sp>
        <p:sp>
          <p:nvSpPr>
            <p:cNvPr id="107" name="中国·天津"/>
            <p:cNvSpPr txBox="true"/>
            <p:nvPr/>
          </p:nvSpPr>
          <p:spPr>
            <a:xfrm>
              <a:off x="5051" y="7524"/>
              <a:ext cx="3000" cy="6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spAutoFit/>
            </a:bodyPr>
            <a:lstStyle>
              <a:lvl1pPr>
                <a:defRPr sz="4500">
                  <a:solidFill>
                    <a:srgbClr val="FFFFFF"/>
                  </a:solidFill>
                  <a:latin typeface="MiSans Heavy" panose="00000A00000000000000" charset="-122"/>
                  <a:ea typeface="MiSans Heavy" panose="00000A00000000000000" charset="-122"/>
                  <a:cs typeface="MiSans Heavy" panose="00000A00000000000000" charset="-122"/>
                  <a:sym typeface="MiSans Heavy" panose="00000A00000000000000" charset="-122"/>
                </a:defRPr>
              </a:lvl1pPr>
            </a:lstStyle>
            <a:p>
              <a:pPr/>
              <a:r>
                <a:rPr sz="2250">
                  <a:latin typeface="微软雅黑"/>
                  <a:ea typeface="微软雅黑"/>
                  <a:cs typeface="微软雅黑"/>
                  <a:sym typeface="思源宋体 Heavy"/>
                </a:rPr>
                <a:t>中国·</a:t>
              </a:r>
              <a:r>
                <a:rPr lang="zh-CN" sz="2250">
                  <a:latin typeface="微软雅黑"/>
                  <a:ea typeface="微软雅黑"/>
                  <a:cs typeface="微软雅黑"/>
                  <a:sym typeface="思源宋体 Heavy"/>
                </a:rPr>
                <a:t>盐城</a:t>
              </a:r>
              <a:r>
                <a:rPr sz="2250">
                  <a:latin typeface="微软雅黑"/>
                  <a:ea typeface="微软雅黑"/>
                  <a:cs typeface="微软雅黑"/>
                  <a:sym typeface="思源宋体 Heavy"/>
                </a:rPr>
                <a:t>·</a:t>
              </a:r>
              <a:r>
                <a:rPr lang="zh-CN" sz="2250">
                  <a:latin typeface="微软雅黑"/>
                  <a:ea typeface="微软雅黑"/>
                  <a:cs typeface="微软雅黑"/>
                  <a:sym typeface="思源宋体 Heavy"/>
                </a:rPr>
                <a:t>东台</a:t>
              </a:r>
              <a:endParaRPr/>
            </a:p>
          </p:txBody>
        </p:sp>
      </p:grpSp>
      <p:pic>
        <p:nvPicPr>
          <p:cNvPr id="108" name="图片 7" descr="Frame 927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3482658" y="1014730"/>
            <a:ext cx="5226685" cy="1049655"/>
          </a:xfrm>
          <a:prstGeom prst="rect">
            <a:avLst/>
          </a:prstGeom>
        </p:spPr>
      </p:pic>
    </p:spTree>
  </p:cSld>
  <p:clrMapOvr>
    <a:masterClrMapping/>
  </p:clrMapOvr>
  <p:transition spd="slow" advTm="22000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2025-11-09T02:43:41Z</dcterms:created>
  <dcterms:modified xsi:type="dcterms:W3CDTF">2025-11-09T02:43:41Z</dcterms:modified>
</cp:coreProperties>
</file>